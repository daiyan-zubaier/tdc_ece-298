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 Serif"/>
      <p:regular r:id="rId9"/>
      <p:bold r:id="rId10"/>
      <p:italic r:id="rId11"/>
      <p:boldItalic r:id="rId12"/>
    </p:embeddedFont>
    <p:embeddedFont>
      <p:font typeface="Inter"/>
      <p:regular r:id="rId13"/>
      <p:bold r:id="rId14"/>
      <p:italic r:id="rId15"/>
      <p:boldItalic r:id="rId16"/>
    </p:embeddedFont>
    <p:embeddedFont>
      <p:font typeface="Roboto Mono"/>
      <p:regular r:id="rId17"/>
      <p:bold r:id="rId18"/>
      <p:italic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guGHI41/2cdtzJJGVc+Mgzm5P6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22" Type="http://schemas.openxmlformats.org/officeDocument/2006/relationships/font" Target="fonts/InterMedium-bold.fntdata"/><Relationship Id="rId21" Type="http://schemas.openxmlformats.org/officeDocument/2006/relationships/font" Target="fonts/InterMedium-regular.fntdata"/><Relationship Id="rId24" Type="http://schemas.openxmlformats.org/officeDocument/2006/relationships/font" Target="fonts/InterMedium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Serif-regular.fntdata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obotoSerif-italic.fntdata"/><Relationship Id="rId10" Type="http://schemas.openxmlformats.org/officeDocument/2006/relationships/font" Target="fonts/RobotoSerif-bold.fntdata"/><Relationship Id="rId13" Type="http://schemas.openxmlformats.org/officeDocument/2006/relationships/font" Target="fonts/Inter-regular.fntdata"/><Relationship Id="rId12" Type="http://schemas.openxmlformats.org/officeDocument/2006/relationships/font" Target="fonts/RobotoSerif-boldItalic.fntdata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Inter-boldItalic.fntdata"/><Relationship Id="rId19" Type="http://schemas.openxmlformats.org/officeDocument/2006/relationships/font" Target="fonts/RobotoMono-italic.fntdata"/><Relationship Id="rId18" Type="http://schemas.openxmlformats.org/officeDocument/2006/relationships/font" Target="fonts/Roboto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Proposal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1. Statement of purpose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2. System diagram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3. IO pin assignment table (Tiny Tapeout pins)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4. Proposed specification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5. Timeline for completion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6. Who does what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Coarse:</a:t>
            </a:r>
            <a:r>
              <a:rPr lang="en-US">
                <a:solidFill>
                  <a:schemeClr val="dk1"/>
                </a:solidFill>
              </a:rPr>
              <a:t> 8-bit counter, counts whole 50 ns ticks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Medium:</a:t>
            </a:r>
            <a:r>
              <a:rPr lang="en-US">
                <a:solidFill>
                  <a:schemeClr val="dk1"/>
                </a:solidFill>
              </a:rPr>
              <a:t> splits one tick into 16 pieces of </a:t>
            </a:r>
            <a:r>
              <a:rPr b="1" lang="en-US">
                <a:solidFill>
                  <a:schemeClr val="dk1"/>
                </a:solidFill>
              </a:rPr>
              <a:t>3.125 ns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Fine:</a:t>
            </a:r>
            <a:r>
              <a:rPr lang="en-US">
                <a:solidFill>
                  <a:schemeClr val="dk1"/>
                </a:solidFill>
              </a:rPr>
              <a:t> splits one medium piece into 16 pieces of about </a:t>
            </a:r>
            <a:r>
              <a:rPr b="1" lang="en-US">
                <a:solidFill>
                  <a:schemeClr val="dk1"/>
                </a:solidFill>
              </a:rPr>
              <a:t>195 ps</a:t>
            </a:r>
            <a:r>
              <a:rPr lang="en-US">
                <a:solidFill>
                  <a:schemeClr val="dk1"/>
                </a:solidFill>
              </a:rPr>
              <a:t>, roughly 200 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"We have three kinds of pins.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Inputs:</a:t>
            </a:r>
            <a:r>
              <a:rPr lang="en-US">
                <a:solidFill>
                  <a:schemeClr val="dk1"/>
                </a:solidFill>
              </a:rPr>
              <a:t> START and STOP are the two edges we're timing. Byte-select chooses which half of the result to read.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Output:</a:t>
            </a:r>
            <a:r>
              <a:rPr lang="en-US">
                <a:solidFill>
                  <a:schemeClr val="dk1"/>
                </a:solidFill>
              </a:rPr>
              <a:t> The result is 16 bits, but Tiny Tapeout only gives us 8 output pins. So we read it in two halves: byte-select at 0 gives the low byte, at 1 the high byte, and we stitch them together.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Status:</a:t>
            </a:r>
            <a:r>
              <a:rPr lang="en-US">
                <a:solidFill>
                  <a:schemeClr val="dk1"/>
                </a:solidFill>
              </a:rPr>
              <a:t> BUSY means a measurement is running. DONE means a result is ready. ERROR means don't trust the result, for example if STOP never arrived or the encoder saw an invalid code.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rest are standard: the 50 MHz reference clock, an active-low reset, and uio[7:3] reserved for calibration and debug, like the DLL later."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have two checkpoints. At week 1, we confirm we fit in the area. At week 4, the fine stage has to actually work. If it doesn't, we fall back to a coarse-plus-medium TDC and report against the 200 ps target. The dual DLL only happens once the baseline works."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" name="Google Shape;15;p5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6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7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7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9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2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4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4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4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3" name="Google Shape;63;p14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4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4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4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5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5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2" name="Google Shape;72;p15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5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5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5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5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5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5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8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8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21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21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22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22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2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2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2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</a:lstStyle>
          <a:p/>
        </p:txBody>
      </p:sp>
      <p:sp>
        <p:nvSpPr>
          <p:cNvPr id="123" name="Google Shape;123;p22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22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22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</a:lstStyle>
          <a:p/>
        </p:txBody>
      </p:sp>
      <p:sp>
        <p:nvSpPr>
          <p:cNvPr id="127" name="Google Shape;127;p22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2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2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22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</a:lstStyle>
          <a:p/>
        </p:txBody>
      </p:sp>
      <p:cxnSp>
        <p:nvCxnSpPr>
          <p:cNvPr id="131" name="Google Shape;131;p22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22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2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3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3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3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4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4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6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en-US" sz="20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i="0" sz="20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30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30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30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30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30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30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31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32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32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2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3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3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3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33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33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33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3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3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4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4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4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5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5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5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5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6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6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6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6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6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6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7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7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7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7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7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7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7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i="0" sz="2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gf180mcu-pdk.readthedocs.io/en/latest/digital/standard_cells/gf180mcu_fd_sc_mcu9t5v0/cells/dlyc/gf180mcu_fd_sc_mcu9t5v0__dlyc_1.html?utm_source=chatgpt.com" TargetMode="External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"/>
          <p:cNvSpPr/>
          <p:nvPr/>
        </p:nvSpPr>
        <p:spPr>
          <a:xfrm>
            <a:off x="323850" y="1905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Three-Stage Time-to-Digital Converter</a:t>
            </a:r>
            <a:endParaRPr/>
          </a:p>
        </p:txBody>
      </p:sp>
      <p:sp>
        <p:nvSpPr>
          <p:cNvPr id="275" name="Google Shape;275;p1"/>
          <p:cNvSpPr/>
          <p:nvPr/>
        </p:nvSpPr>
        <p:spPr>
          <a:xfrm>
            <a:off x="323850" y="638175"/>
            <a:ext cx="849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Purpose</a:t>
            </a:r>
            <a:r>
              <a:rPr lang="en-US" sz="1500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b="0" i="0" lang="en-US" sz="1500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Measure the time between START and STOP signals</a:t>
            </a:r>
            <a:endParaRPr/>
          </a:p>
        </p:txBody>
      </p:sp>
      <p:sp>
        <p:nvSpPr>
          <p:cNvPr id="276" name="Google Shape;276;p1"/>
          <p:cNvSpPr/>
          <p:nvPr/>
        </p:nvSpPr>
        <p:spPr>
          <a:xfrm>
            <a:off x="323850" y="1047750"/>
            <a:ext cx="1809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5.12 µs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77" name="Google Shape;277;p1"/>
          <p:cNvSpPr/>
          <p:nvPr/>
        </p:nvSpPr>
        <p:spPr>
          <a:xfrm>
            <a:off x="323850" y="1457325"/>
            <a:ext cx="2114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44D"/>
                </a:solidFill>
                <a:latin typeface="Inter"/>
                <a:ea typeface="Inter"/>
                <a:cs typeface="Inter"/>
                <a:sym typeface="Inter"/>
              </a:rPr>
              <a:t>Target dynamic range</a:t>
            </a:r>
            <a:endParaRPr/>
          </a:p>
        </p:txBody>
      </p:sp>
      <p:sp>
        <p:nvSpPr>
          <p:cNvPr id="278" name="Google Shape;278;p1"/>
          <p:cNvSpPr/>
          <p:nvPr/>
        </p:nvSpPr>
        <p:spPr>
          <a:xfrm>
            <a:off x="2609850" y="1047750"/>
            <a:ext cx="1714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200 ps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79" name="Google Shape;279;p1"/>
          <p:cNvSpPr/>
          <p:nvPr/>
        </p:nvSpPr>
        <p:spPr>
          <a:xfrm>
            <a:off x="2609850" y="1457325"/>
            <a:ext cx="18383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44D"/>
                </a:solidFill>
                <a:latin typeface="Inter"/>
                <a:ea typeface="Inter"/>
                <a:cs typeface="Inter"/>
                <a:sym typeface="Inter"/>
              </a:rPr>
              <a:t>Target resolution</a:t>
            </a:r>
            <a:endParaRPr/>
          </a:p>
        </p:txBody>
      </p:sp>
      <p:sp>
        <p:nvSpPr>
          <p:cNvPr id="280" name="Google Shape;280;p1"/>
          <p:cNvSpPr/>
          <p:nvPr/>
        </p:nvSpPr>
        <p:spPr>
          <a:xfrm>
            <a:off x="4924425" y="1028700"/>
            <a:ext cx="390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PROPOSED 16-BIT FORMAT</a:t>
            </a:r>
            <a:endParaRPr/>
          </a:p>
        </p:txBody>
      </p:sp>
      <p:sp>
        <p:nvSpPr>
          <p:cNvPr id="281" name="Google Shape;281;p1"/>
          <p:cNvSpPr/>
          <p:nvPr/>
        </p:nvSpPr>
        <p:spPr>
          <a:xfrm>
            <a:off x="4924425" y="1362075"/>
            <a:ext cx="13906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M[15:8]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82" name="Google Shape;282;p1"/>
          <p:cNvSpPr/>
          <p:nvPr/>
        </p:nvSpPr>
        <p:spPr>
          <a:xfrm>
            <a:off x="6391275" y="1362075"/>
            <a:ext cx="1228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M[7:4]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83" name="Google Shape;283;p1"/>
          <p:cNvSpPr/>
          <p:nvPr/>
        </p:nvSpPr>
        <p:spPr>
          <a:xfrm>
            <a:off x="7696200" y="136207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M[3:0]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84" name="Google Shape;284;p1"/>
          <p:cNvSpPr/>
          <p:nvPr/>
        </p:nvSpPr>
        <p:spPr>
          <a:xfrm>
            <a:off x="4924425" y="1628775"/>
            <a:ext cx="13906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Coarse (C)</a:t>
            </a:r>
            <a:endParaRPr/>
          </a:p>
        </p:txBody>
      </p:sp>
      <p:sp>
        <p:nvSpPr>
          <p:cNvPr id="285" name="Google Shape;285;p1"/>
          <p:cNvSpPr/>
          <p:nvPr/>
        </p:nvSpPr>
        <p:spPr>
          <a:xfrm>
            <a:off x="6391275" y="1628775"/>
            <a:ext cx="1314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Medium (M)</a:t>
            </a:r>
            <a:endParaRPr/>
          </a:p>
        </p:txBody>
      </p:sp>
      <p:sp>
        <p:nvSpPr>
          <p:cNvPr id="286" name="Google Shape;286;p1"/>
          <p:cNvSpPr/>
          <p:nvPr/>
        </p:nvSpPr>
        <p:spPr>
          <a:xfrm>
            <a:off x="7696200" y="162877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Fine (F)</a:t>
            </a:r>
            <a:endParaRPr/>
          </a:p>
        </p:txBody>
      </p:sp>
      <p:sp>
        <p:nvSpPr>
          <p:cNvPr id="287" name="Google Shape;287;p1"/>
          <p:cNvSpPr/>
          <p:nvPr/>
        </p:nvSpPr>
        <p:spPr>
          <a:xfrm>
            <a:off x="4924425" y="1905000"/>
            <a:ext cx="3933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T = C·T_clk + M·T_medium + F·T_fine</a:t>
            </a:r>
            <a:endParaRPr/>
          </a:p>
        </p:txBody>
      </p:sp>
      <p:sp>
        <p:nvSpPr>
          <p:cNvPr id="288" name="Google Shape;288;p1"/>
          <p:cNvSpPr/>
          <p:nvPr/>
        </p:nvSpPr>
        <p:spPr>
          <a:xfrm>
            <a:off x="323850" y="1914525"/>
            <a:ext cx="4514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Readout: SEL selects the upper or lower byte</a:t>
            </a:r>
            <a:endParaRPr/>
          </a:p>
        </p:txBody>
      </p:sp>
      <p:pic>
        <p:nvPicPr>
          <p:cNvPr id="289" name="Google Shape;2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1450" y="2552700"/>
            <a:ext cx="6741101" cy="236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1745" y="-36016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"/>
          <p:cNvPicPr preferRelativeResize="0"/>
          <p:nvPr/>
        </p:nvPicPr>
        <p:blipFill rotWithShape="1">
          <a:blip r:embed="rId3">
            <a:alphaModFix/>
          </a:blip>
          <a:srcRect b="49789" l="0" r="0" t="0"/>
          <a:stretch/>
        </p:blipFill>
        <p:spPr>
          <a:xfrm>
            <a:off x="226525" y="1346525"/>
            <a:ext cx="3788524" cy="14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"/>
          <p:cNvSpPr txBox="1"/>
          <p:nvPr/>
        </p:nvSpPr>
        <p:spPr>
          <a:xfrm>
            <a:off x="186131" y="532450"/>
            <a:ext cx="15819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0"/>
              <a:buFont typeface="Arial"/>
              <a:buNone/>
            </a:pPr>
            <a:r>
              <a:rPr b="1" i="0" lang="en-US" sz="1840" u="none" cap="none" strike="noStrike">
                <a:solidFill>
                  <a:srgbClr val="000000"/>
                </a:solidFill>
                <a:highlight>
                  <a:schemeClr val="lt2"/>
                </a:highlight>
                <a:latin typeface="Georgia"/>
                <a:ea typeface="Georgia"/>
                <a:cs typeface="Georgia"/>
                <a:sym typeface="Georgia"/>
              </a:rPr>
              <a:t>Medium </a:t>
            </a:r>
            <a:endParaRPr b="1" i="0" sz="1400" u="none" cap="none" strike="noStrike">
              <a:solidFill>
                <a:srgbClr val="000000"/>
              </a:solidFill>
              <a:highlight>
                <a:schemeClr val="lt2"/>
              </a:highlight>
            </a:endParaRPr>
          </a:p>
        </p:txBody>
      </p:sp>
      <p:sp>
        <p:nvSpPr>
          <p:cNvPr id="297" name="Google Shape;297;p2"/>
          <p:cNvSpPr txBox="1"/>
          <p:nvPr/>
        </p:nvSpPr>
        <p:spPr>
          <a:xfrm>
            <a:off x="4647125" y="532450"/>
            <a:ext cx="787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1" i="0" lang="en-US" sz="1740" u="none" cap="none" strike="noStrike">
                <a:solidFill>
                  <a:schemeClr val="dk1"/>
                </a:solidFill>
                <a:highlight>
                  <a:schemeClr val="lt2"/>
                </a:highlight>
                <a:latin typeface="Georgia"/>
                <a:ea typeface="Georgia"/>
                <a:cs typeface="Georgia"/>
                <a:sym typeface="Georgia"/>
              </a:rPr>
              <a:t>Fine</a:t>
            </a:r>
            <a:endParaRPr b="1" i="0" sz="1400" u="none" cap="none" strike="noStrike">
              <a:solidFill>
                <a:schemeClr val="dk1"/>
              </a:solidFill>
              <a:highlight>
                <a:schemeClr val="lt2"/>
              </a:highlight>
            </a:endParaRPr>
          </a:p>
        </p:txBody>
      </p:sp>
      <p:sp>
        <p:nvSpPr>
          <p:cNvPr id="298" name="Google Shape;298;p2"/>
          <p:cNvSpPr txBox="1"/>
          <p:nvPr/>
        </p:nvSpPr>
        <p:spPr>
          <a:xfrm>
            <a:off x="4647125" y="856475"/>
            <a:ext cx="4245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Arial"/>
              <a:buNone/>
            </a:pPr>
            <a:r>
              <a:rPr b="0" i="0" lang="en-US" sz="1244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Custom delay cell </a:t>
            </a:r>
            <a:r>
              <a:rPr lang="en-US" sz="1244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(target: epsilon = 200p)</a:t>
            </a:r>
            <a:endParaRPr b="0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9" name="Google Shape;299;p2"/>
          <p:cNvSpPr txBox="1"/>
          <p:nvPr>
            <p:ph idx="4294967295" type="title"/>
          </p:nvPr>
        </p:nvSpPr>
        <p:spPr>
          <a:xfrm>
            <a:off x="263525" y="2914300"/>
            <a:ext cx="4383600" cy="23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0400" lIns="70400" spcFirstLastPara="1" rIns="70400" wrap="square" tIns="704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540">
                <a:latin typeface="Georgia"/>
                <a:ea typeface="Georgia"/>
                <a:cs typeface="Georgia"/>
                <a:sym typeface="Georgia"/>
              </a:rPr>
              <a:t>Pinouts:</a:t>
            </a:r>
            <a:endParaRPr sz="1540">
              <a:latin typeface="Georgia"/>
              <a:ea typeface="Georgia"/>
              <a:cs typeface="Georgia"/>
              <a:sym typeface="Georgia"/>
            </a:endParaRPr>
          </a:p>
          <a:p>
            <a:pPr indent="-32640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40"/>
              <a:buFont typeface="Georgia"/>
              <a:buChar char="●"/>
            </a:pPr>
            <a:r>
              <a:rPr b="0" lang="en-US" sz="1540">
                <a:latin typeface="Georgia"/>
                <a:ea typeface="Georgia"/>
                <a:cs typeface="Georgia"/>
                <a:sym typeface="Georgia"/>
              </a:rPr>
              <a:t>ui_in[0] - START timing input</a:t>
            </a:r>
            <a:endParaRPr b="0" sz="1540">
              <a:latin typeface="Georgia"/>
              <a:ea typeface="Georgia"/>
              <a:cs typeface="Georgia"/>
              <a:sym typeface="Georgia"/>
            </a:endParaRPr>
          </a:p>
          <a:p>
            <a:pPr indent="-32640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40"/>
              <a:buFont typeface="Georgia"/>
              <a:buChar char="●"/>
            </a:pPr>
            <a:r>
              <a:rPr b="0" lang="en-US" sz="1540">
                <a:latin typeface="Georgia"/>
                <a:ea typeface="Georgia"/>
                <a:cs typeface="Georgia"/>
                <a:sym typeface="Georgia"/>
              </a:rPr>
              <a:t>ui_in[1] - STOP timing input</a:t>
            </a:r>
            <a:endParaRPr b="0" sz="1540">
              <a:latin typeface="Georgia"/>
              <a:ea typeface="Georgia"/>
              <a:cs typeface="Georgia"/>
              <a:sym typeface="Georgia"/>
            </a:endParaRPr>
          </a:p>
          <a:p>
            <a:pPr indent="-32640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40"/>
              <a:buFont typeface="Georgia"/>
              <a:buChar char="●"/>
            </a:pPr>
            <a:r>
              <a:rPr b="0" lang="en-US" sz="1540">
                <a:latin typeface="Georgia"/>
                <a:ea typeface="Georgia"/>
                <a:cs typeface="Georgia"/>
                <a:sym typeface="Georgia"/>
              </a:rPr>
              <a:t>ui_in[2] - byte-select control</a:t>
            </a:r>
            <a:endParaRPr b="0" sz="1540">
              <a:latin typeface="Georgia"/>
              <a:ea typeface="Georgia"/>
              <a:cs typeface="Georgia"/>
              <a:sym typeface="Georgia"/>
            </a:endParaRPr>
          </a:p>
          <a:p>
            <a:pPr indent="-32640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40"/>
              <a:buFont typeface="Georgia"/>
              <a:buChar char="●"/>
            </a:pPr>
            <a:r>
              <a:rPr b="0" lang="en-US" sz="1540">
                <a:latin typeface="Georgia"/>
                <a:ea typeface="Georgia"/>
                <a:cs typeface="Georgia"/>
                <a:sym typeface="Georgia"/>
              </a:rPr>
              <a:t>uo_out[7:0] - 8-bit multiplexed data bus</a:t>
            </a:r>
            <a:endParaRPr b="0" sz="1540">
              <a:latin typeface="Georgia"/>
              <a:ea typeface="Georgia"/>
              <a:cs typeface="Georgia"/>
              <a:sym typeface="Georgia"/>
            </a:endParaRPr>
          </a:p>
          <a:p>
            <a:pPr indent="-32640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40"/>
              <a:buFont typeface="Georgia"/>
              <a:buChar char="●"/>
            </a:pPr>
            <a:r>
              <a:rPr b="0" lang="en-US" sz="1540">
                <a:latin typeface="Georgia"/>
                <a:ea typeface="Georgia"/>
                <a:cs typeface="Georgia"/>
                <a:sym typeface="Georgia"/>
              </a:rPr>
              <a:t>uio[0] - DONE status flag</a:t>
            </a:r>
            <a:endParaRPr b="0" sz="154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0" name="Google Shape;300;p2"/>
          <p:cNvSpPr txBox="1"/>
          <p:nvPr/>
        </p:nvSpPr>
        <p:spPr>
          <a:xfrm>
            <a:off x="186124" y="857975"/>
            <a:ext cx="3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4"/>
              <a:buFont typeface="Arial"/>
              <a:buNone/>
            </a:pPr>
            <a:r>
              <a:rPr b="0" i="0" lang="en-US" sz="1224" u="none" cap="none" strike="noStrike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Use this delay cell from </a:t>
            </a:r>
            <a:r>
              <a:rPr b="0" i="0" lang="en-US" sz="1224" u="sng" cap="none" strike="noStrike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PDK</a:t>
            </a:r>
            <a:r>
              <a:rPr lang="en-US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(1.3n-1.4n)</a:t>
            </a:r>
            <a:endParaRPr b="0" i="0" sz="1400" u="none" cap="none" strike="noStrike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301" name="Google Shape;301;p2"/>
          <p:cNvPicPr preferRelativeResize="0"/>
          <p:nvPr/>
        </p:nvPicPr>
        <p:blipFill rotWithShape="1">
          <a:blip r:embed="rId3">
            <a:alphaModFix/>
          </a:blip>
          <a:srcRect b="0" l="0" r="0" t="49789"/>
          <a:stretch/>
        </p:blipFill>
        <p:spPr>
          <a:xfrm>
            <a:off x="4647125" y="1347285"/>
            <a:ext cx="3788524" cy="14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"/>
          <p:cNvSpPr txBox="1"/>
          <p:nvPr/>
        </p:nvSpPr>
        <p:spPr>
          <a:xfrm>
            <a:off x="4647125" y="3162650"/>
            <a:ext cx="4383600" cy="15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640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Georgia"/>
              <a:buChar char="●"/>
            </a:pPr>
            <a:r>
              <a:rPr b="0" i="0" lang="en-US" sz="154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uio[1] - BUSY status flag</a:t>
            </a:r>
            <a:endParaRPr b="0" i="0" sz="154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640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Georgia"/>
              <a:buChar char="●"/>
            </a:pPr>
            <a:r>
              <a:rPr b="0" i="0" lang="en-US" sz="154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uio[2] – ERROR status flag</a:t>
            </a:r>
            <a:endParaRPr b="0" i="0" sz="154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640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Georgia"/>
              <a:buChar char="●"/>
            </a:pPr>
            <a:r>
              <a:rPr b="0" i="0" lang="en-US" sz="154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uio[7:3] - reserved calibration/debug I/O</a:t>
            </a:r>
            <a:endParaRPr b="0" i="0" sz="154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640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Georgia"/>
              <a:buChar char="●"/>
            </a:pPr>
            <a:r>
              <a:rPr b="0" i="0" lang="en-US" sz="154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clk - reference clock</a:t>
            </a:r>
            <a:endParaRPr b="0" i="0" sz="154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640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Georgia"/>
              <a:buChar char="●"/>
            </a:pPr>
            <a:r>
              <a:rPr b="0" i="0" lang="en-US" sz="154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rst_n - active-low reset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"/>
          <p:cNvSpPr txBox="1"/>
          <p:nvPr/>
        </p:nvSpPr>
        <p:spPr>
          <a:xfrm>
            <a:off x="226525" y="164375"/>
            <a:ext cx="55119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More on System + Pinouts</a:t>
            </a:r>
            <a:endParaRPr b="1" i="0" sz="18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4" name="Google Shape;30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4025" y="4263525"/>
            <a:ext cx="879975" cy="87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"/>
          <p:cNvSpPr/>
          <p:nvPr/>
        </p:nvSpPr>
        <p:spPr>
          <a:xfrm>
            <a:off x="323850" y="190500"/>
            <a:ext cx="8477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Timeline + Responsibilities</a:t>
            </a:r>
            <a:endParaRPr/>
          </a:p>
        </p:txBody>
      </p:sp>
      <p:sp>
        <p:nvSpPr>
          <p:cNvPr id="310" name="Google Shape;310;p3"/>
          <p:cNvSpPr/>
          <p:nvPr/>
        </p:nvSpPr>
        <p:spPr>
          <a:xfrm>
            <a:off x="323850" y="7810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PROJECT TIMELINE</a:t>
            </a:r>
            <a:endParaRPr/>
          </a:p>
        </p:txBody>
      </p:sp>
      <p:sp>
        <p:nvSpPr>
          <p:cNvPr id="311" name="Google Shape;311;p3"/>
          <p:cNvSpPr/>
          <p:nvPr/>
        </p:nvSpPr>
        <p:spPr>
          <a:xfrm>
            <a:off x="5953125" y="781050"/>
            <a:ext cx="2952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latin typeface="Roboto Mono"/>
                <a:ea typeface="Roboto Mono"/>
                <a:cs typeface="Roboto Mono"/>
                <a:sym typeface="Roboto Mono"/>
              </a:rPr>
              <a:t>PROPOSED WORK SPLIT</a:t>
            </a:r>
            <a:endParaRPr/>
          </a:p>
        </p:txBody>
      </p:sp>
      <p:sp>
        <p:nvSpPr>
          <p:cNvPr id="312" name="Google Shape;312;p3"/>
          <p:cNvSpPr/>
          <p:nvPr/>
        </p:nvSpPr>
        <p:spPr>
          <a:xfrm>
            <a:off x="323850" y="1171575"/>
            <a:ext cx="1381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Weeks 1–2</a:t>
            </a:r>
            <a:endParaRPr/>
          </a:p>
        </p:txBody>
      </p:sp>
      <p:sp>
        <p:nvSpPr>
          <p:cNvPr id="313" name="Google Shape;313;p3"/>
          <p:cNvSpPr/>
          <p:nvPr/>
        </p:nvSpPr>
        <p:spPr>
          <a:xfrm>
            <a:off x="323850" y="1419225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44D"/>
                </a:solidFill>
                <a:latin typeface="Inter"/>
                <a:ea typeface="Inter"/>
                <a:cs typeface="Inter"/>
                <a:sym typeface="Inter"/>
              </a:rPr>
              <a:t>Oct 1–14</a:t>
            </a:r>
            <a:endParaRPr/>
          </a:p>
        </p:txBody>
      </p:sp>
      <p:sp>
        <p:nvSpPr>
          <p:cNvPr id="314" name="Google Shape;314;p3"/>
          <p:cNvSpPr/>
          <p:nvPr/>
        </p:nvSpPr>
        <p:spPr>
          <a:xfrm>
            <a:off x="1924050" y="1171575"/>
            <a:ext cx="3762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Architecture &amp; RTL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315" name="Google Shape;315;p3"/>
          <p:cNvSpPr/>
          <p:nvPr/>
        </p:nvSpPr>
        <p:spPr>
          <a:xfrm>
            <a:off x="1924050" y="1428750"/>
            <a:ext cx="3762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Pinout, counter, control logic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and PDK cell characterization</a:t>
            </a:r>
            <a:endParaRPr/>
          </a:p>
        </p:txBody>
      </p:sp>
      <p:sp>
        <p:nvSpPr>
          <p:cNvPr id="316" name="Google Shape;316;p3"/>
          <p:cNvSpPr/>
          <p:nvPr/>
        </p:nvSpPr>
        <p:spPr>
          <a:xfrm>
            <a:off x="323850" y="1933575"/>
            <a:ext cx="1381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Weeks 3–4</a:t>
            </a:r>
            <a:endParaRPr/>
          </a:p>
        </p:txBody>
      </p:sp>
      <p:sp>
        <p:nvSpPr>
          <p:cNvPr id="317" name="Google Shape;317;p3"/>
          <p:cNvSpPr/>
          <p:nvPr/>
        </p:nvSpPr>
        <p:spPr>
          <a:xfrm>
            <a:off x="323850" y="2181225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44D"/>
                </a:solidFill>
                <a:latin typeface="Inter"/>
                <a:ea typeface="Inter"/>
                <a:cs typeface="Inter"/>
                <a:sym typeface="Inter"/>
              </a:rPr>
              <a:t>Oct 15–2</a:t>
            </a:r>
            <a:r>
              <a:rPr lang="en-US" sz="1200">
                <a:solidFill>
                  <a:srgbClr val="54544D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  <p:sp>
        <p:nvSpPr>
          <p:cNvPr id="318" name="Google Shape;318;p3"/>
          <p:cNvSpPr/>
          <p:nvPr/>
        </p:nvSpPr>
        <p:spPr>
          <a:xfrm>
            <a:off x="1924050" y="1933575"/>
            <a:ext cx="3762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Fine TDC &amp; Integration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319" name="Google Shape;319;p3"/>
          <p:cNvSpPr/>
          <p:nvPr/>
        </p:nvSpPr>
        <p:spPr>
          <a:xfrm>
            <a:off x="1924050" y="2190750"/>
            <a:ext cx="3762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Medium / Vernier delay lines,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residue generation and integration</a:t>
            </a:r>
            <a:endParaRPr/>
          </a:p>
        </p:txBody>
      </p:sp>
      <p:sp>
        <p:nvSpPr>
          <p:cNvPr id="320" name="Google Shape;320;p3"/>
          <p:cNvSpPr/>
          <p:nvPr/>
        </p:nvSpPr>
        <p:spPr>
          <a:xfrm>
            <a:off x="323850" y="2695575"/>
            <a:ext cx="1381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Weeks 5–6</a:t>
            </a:r>
            <a:endParaRPr/>
          </a:p>
        </p:txBody>
      </p:sp>
      <p:sp>
        <p:nvSpPr>
          <p:cNvPr id="321" name="Google Shape;321;p3"/>
          <p:cNvSpPr/>
          <p:nvPr/>
        </p:nvSpPr>
        <p:spPr>
          <a:xfrm>
            <a:off x="323850" y="2943225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4544D"/>
                </a:solidFill>
                <a:latin typeface="Inter"/>
                <a:ea typeface="Inter"/>
                <a:cs typeface="Inter"/>
                <a:sym typeface="Inter"/>
              </a:rPr>
              <a:t>Nov 2 </a:t>
            </a:r>
            <a:r>
              <a:rPr b="0" i="0" lang="en-US" sz="1200" u="none" cap="none" strike="noStrike">
                <a:solidFill>
                  <a:srgbClr val="54544D"/>
                </a:solidFill>
                <a:latin typeface="Inter"/>
                <a:ea typeface="Inter"/>
                <a:cs typeface="Inter"/>
                <a:sym typeface="Inter"/>
              </a:rPr>
              <a:t>– Nov 11</a:t>
            </a:r>
            <a:endParaRPr/>
          </a:p>
        </p:txBody>
      </p:sp>
      <p:sp>
        <p:nvSpPr>
          <p:cNvPr id="322" name="Google Shape;322;p3"/>
          <p:cNvSpPr/>
          <p:nvPr/>
        </p:nvSpPr>
        <p:spPr>
          <a:xfrm>
            <a:off x="1924050" y="2695575"/>
            <a:ext cx="3762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Layout &amp; Verification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323" name="Google Shape;323;p3"/>
          <p:cNvSpPr/>
          <p:nvPr/>
        </p:nvSpPr>
        <p:spPr>
          <a:xfrm>
            <a:off x="1924050" y="2952750"/>
            <a:ext cx="3762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Custom-cell layout, DRC/LVS,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place &amp; route and extracted timing</a:t>
            </a:r>
            <a:endParaRPr/>
          </a:p>
        </p:txBody>
      </p:sp>
      <p:sp>
        <p:nvSpPr>
          <p:cNvPr id="324" name="Google Shape;324;p3"/>
          <p:cNvSpPr/>
          <p:nvPr/>
        </p:nvSpPr>
        <p:spPr>
          <a:xfrm>
            <a:off x="323850" y="3457575"/>
            <a:ext cx="1381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Weeks 7–8</a:t>
            </a:r>
            <a:endParaRPr/>
          </a:p>
        </p:txBody>
      </p:sp>
      <p:sp>
        <p:nvSpPr>
          <p:cNvPr id="325" name="Google Shape;325;p3"/>
          <p:cNvSpPr/>
          <p:nvPr/>
        </p:nvSpPr>
        <p:spPr>
          <a:xfrm>
            <a:off x="323850" y="3705225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44D"/>
                </a:solidFill>
                <a:latin typeface="Inter"/>
                <a:ea typeface="Inter"/>
                <a:cs typeface="Inter"/>
                <a:sym typeface="Inter"/>
              </a:rPr>
              <a:t>Nov 12–25</a:t>
            </a:r>
            <a:endParaRPr/>
          </a:p>
        </p:txBody>
      </p:sp>
      <p:sp>
        <p:nvSpPr>
          <p:cNvPr id="326" name="Google Shape;326;p3"/>
          <p:cNvSpPr/>
          <p:nvPr/>
        </p:nvSpPr>
        <p:spPr>
          <a:xfrm>
            <a:off x="1924050" y="3457575"/>
            <a:ext cx="3762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Testing &amp; Submission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1924050" y="3714750"/>
            <a:ext cx="3762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Corner tests, fixes, documentation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and final demonstration</a:t>
            </a:r>
            <a:endParaRPr/>
          </a:p>
        </p:txBody>
      </p:sp>
      <p:sp>
        <p:nvSpPr>
          <p:cNvPr id="328" name="Google Shape;328;p3"/>
          <p:cNvSpPr/>
          <p:nvPr/>
        </p:nvSpPr>
        <p:spPr>
          <a:xfrm>
            <a:off x="5953125" y="117157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Elisa</a:t>
            </a:r>
            <a:r>
              <a:rPr b="1" lang="en-US" sz="1225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1" i="0" lang="en-US" sz="122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 Digital logic</a:t>
            </a:r>
            <a:endParaRPr sz="1200"/>
          </a:p>
        </p:txBody>
      </p:sp>
      <p:sp>
        <p:nvSpPr>
          <p:cNvPr id="329" name="Google Shape;329;p3"/>
          <p:cNvSpPr/>
          <p:nvPr/>
        </p:nvSpPr>
        <p:spPr>
          <a:xfrm>
            <a:off x="5953125" y="1476375"/>
            <a:ext cx="2857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Counter, controller, encoders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and output interface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RTL simulation and testbenches</a:t>
            </a:r>
            <a:endParaRPr/>
          </a:p>
        </p:txBody>
      </p:sp>
      <p:sp>
        <p:nvSpPr>
          <p:cNvPr id="330" name="Google Shape;330;p3"/>
          <p:cNvSpPr/>
          <p:nvPr/>
        </p:nvSpPr>
        <p:spPr>
          <a:xfrm>
            <a:off x="5953125" y="2238375"/>
            <a:ext cx="295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Daiyan</a:t>
            </a:r>
            <a:r>
              <a:rPr b="1" lang="en-US" sz="1225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i="0" lang="en-US" sz="122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 Delay-cell design</a:t>
            </a:r>
            <a:endParaRPr sz="1200"/>
          </a:p>
        </p:txBody>
      </p:sp>
      <p:sp>
        <p:nvSpPr>
          <p:cNvPr id="331" name="Google Shape;331;p3"/>
          <p:cNvSpPr/>
          <p:nvPr/>
        </p:nvSpPr>
        <p:spPr>
          <a:xfrm>
            <a:off x="5953125" y="2543175"/>
            <a:ext cx="2952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PDK delay-cell characterization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Custom Vernier cells and layout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Circuit and corner simulations</a:t>
            </a:r>
            <a:endParaRPr/>
          </a:p>
        </p:txBody>
      </p:sp>
      <p:sp>
        <p:nvSpPr>
          <p:cNvPr id="332" name="Google Shape;332;p3"/>
          <p:cNvSpPr/>
          <p:nvPr/>
        </p:nvSpPr>
        <p:spPr>
          <a:xfrm>
            <a:off x="5953125" y="3305175"/>
            <a:ext cx="295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161616"/>
                </a:solidFill>
                <a:highlight>
                  <a:schemeClr val="lt2"/>
                </a:highlight>
                <a:latin typeface="Inter"/>
                <a:ea typeface="Inter"/>
                <a:cs typeface="Inter"/>
                <a:sym typeface="Inter"/>
              </a:rPr>
              <a:t>Together </a:t>
            </a:r>
            <a:r>
              <a:rPr b="1" lang="en-US" sz="1325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1" i="0" lang="en-US" sz="132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Integration</a:t>
            </a:r>
            <a:endParaRPr sz="1300"/>
          </a:p>
        </p:txBody>
      </p:sp>
      <p:sp>
        <p:nvSpPr>
          <p:cNvPr id="333" name="Google Shape;333;p3"/>
          <p:cNvSpPr/>
          <p:nvPr/>
        </p:nvSpPr>
        <p:spPr>
          <a:xfrm>
            <a:off x="5953125" y="3609975"/>
            <a:ext cx="2952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Residue generation and timing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Full-chip verification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Report and final demo</a:t>
            </a:r>
            <a:endParaRPr/>
          </a:p>
        </p:txBody>
      </p:sp>
      <p:sp>
        <p:nvSpPr>
          <p:cNvPr id="334" name="Google Shape;334;p3"/>
          <p:cNvSpPr/>
          <p:nvPr/>
        </p:nvSpPr>
        <p:spPr>
          <a:xfrm>
            <a:off x="323850" y="4591050"/>
            <a:ext cx="8477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1616"/>
                </a:solidFill>
                <a:latin typeface="Inter"/>
                <a:ea typeface="Inter"/>
                <a:cs typeface="Inter"/>
                <a:sym typeface="Inter"/>
              </a:rPr>
              <a:t>Stretch goal: dual-DLL calibration after the baseline TDC works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